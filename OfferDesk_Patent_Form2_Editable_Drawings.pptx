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37" y="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9562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rPr sz="700"/>
              <a:t>APPLICANT: OFFERDESK / CAMPUSPLACE</a:t>
            </a:r>
            <a:br>
              <a:rPr sz="700"/>
            </a:br>
            <a:r>
              <a:rPr sz="700"/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0049" y="457200"/>
            <a:ext cx="19383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rPr sz="700"/>
              <a:t>SHEET 1 OF 9</a:t>
            </a:r>
            <a:br>
              <a:rPr sz="700"/>
            </a:br>
            <a:r>
              <a:rPr sz="700"/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5292" y="6812280"/>
            <a:ext cx="38587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rPr sz="900"/>
              <a:t>FIG. 1 – OVERALL MULTI-TENANT SYSTEM ARCHITECTURE (100).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4255" y="1744827"/>
            <a:ext cx="1486585" cy="33919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100"/>
              <a:t>SYSTEM (100)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4898" y="2454046"/>
            <a:ext cx="1380401" cy="55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CLIENT INTERFACE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2930" y="2343038"/>
            <a:ext cx="42511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rPr sz="800"/>
              <a:t>(102)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085299" y="2084019"/>
            <a:ext cx="1698956" cy="43169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63131" y="2454046"/>
            <a:ext cx="2654617" cy="1603450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3616223" y="2478714"/>
            <a:ext cx="215475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rPr sz="800" dirty="0"/>
              <a:t>APPLICATION GATEWAY SERVER (104)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5861" y="2700730"/>
            <a:ext cx="1114939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AUTHENTICATION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MIDDLEWARE (105)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5861" y="3163264"/>
            <a:ext cx="1114939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TENANT ISOLATION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MIDDLEWARE (106)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5861" y="3625798"/>
            <a:ext cx="1114939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ROLE-BASED ACCESS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MIDDLEWARE (107)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85299" y="2731566"/>
            <a:ext cx="610562" cy="13567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9394" y="2454046"/>
            <a:ext cx="2760802" cy="1603450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6642487" y="2478714"/>
            <a:ext cx="23182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rPr sz="800"/>
              <a:t>MACHINE LEARNING MICROSERVICE (110)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8672" y="2669895"/>
            <a:ext cx="116803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NLP VECTOR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MATCHER MODULE (112)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2888" y="2669895"/>
            <a:ext cx="116803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WEIGHT REDIST.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ENGINE (114)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8672" y="3132429"/>
            <a:ext cx="116803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THRESHOLD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PENALTY MODULE (116)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2888" y="3132429"/>
            <a:ext cx="116803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GENERATIVE AI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MICROSERVICE I/F (118)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70840" y="2947415"/>
            <a:ext cx="477832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784255" y="4550866"/>
            <a:ext cx="1592770" cy="4008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PERSISTENT DATABASE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 dirty="0"/>
              <a:t>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4656" y="4439858"/>
            <a:ext cx="42511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rPr sz="800"/>
              <a:t>(108)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96624" y="4057497"/>
            <a:ext cx="318554" cy="49336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58471" y="4057497"/>
            <a:ext cx="1592770" cy="49336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704898" y="3564127"/>
            <a:ext cx="1592770" cy="46253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CRYPTOGRAPHIC E-SIGNATURE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ENGINE (120)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04898" y="4180839"/>
            <a:ext cx="769839" cy="47446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rPr sz="800"/>
              <a:t>SHA-256 DIGEST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rPr sz="800"/>
              <a:t>GENERATOR (122)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27830" y="4180838"/>
            <a:ext cx="769839" cy="5550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rPr sz="800"/>
              <a:t>AUDITOR VERIFICATION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rPr sz="800"/>
              <a:t>INTERFACE (124)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085299" y="3255771"/>
            <a:ext cx="477832" cy="43169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95099" y="4026661"/>
            <a:ext cx="0" cy="15417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  <a:stCxn id="29" idx="3"/>
          </p:cNvCxnSpPr>
          <p:nvPr/>
        </p:nvCxnSpPr>
        <p:spPr>
          <a:xfrm>
            <a:off x="3297669" y="4458359"/>
            <a:ext cx="1698955" cy="27752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04898" y="5414263"/>
            <a:ext cx="1380401" cy="4316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WELLNESS / STRESS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TRACKING MODULE (126)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1484" y="5414263"/>
            <a:ext cx="1380401" cy="4316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ANONYMOUS PEER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rPr sz="800"/>
              <a:t>SUPPORT WALL MODULE (128)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395099" y="4119168"/>
            <a:ext cx="1539678" cy="1202588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881685" y="4119168"/>
            <a:ext cx="371646" cy="1202588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2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2 – NLP VECTOR MATCHER AND DYNAMIC PARAMETER WEIGHTING SUB-SYSTEM (112, 114).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4898" y="1775663"/>
            <a:ext cx="3716464" cy="2466847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57991" y="1800331"/>
            <a:ext cx="361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NLP VECTOR MATCHER MODULE (112)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7268" y="2053183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JOB TEXT T_job /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CANDIDATE TEXT T_cand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7268" y="2639059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EMBEDDING FUNCTION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E(T)  (d = 384)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7268" y="3224936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COSINE SIMILARITY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COMPUTATION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7268" y="3810812"/>
            <a:ext cx="1380401" cy="33919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Score_similarity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7468" y="2423210"/>
            <a:ext cx="0" cy="21584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07468" y="3009086"/>
            <a:ext cx="0" cy="21585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07468" y="3594963"/>
            <a:ext cx="0" cy="21584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722408" y="2639059"/>
            <a:ext cx="148658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EXCEPTION: MODEL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UNAVAILABLE / OFFLINE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2408" y="3224936"/>
            <a:ext cx="148658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TF-IDF FALLBACK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VECTORIZER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22408" y="3810812"/>
            <a:ext cx="1486585" cy="33919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Score_TFIDF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7669" y="2824073"/>
            <a:ext cx="424739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24215" y="2750067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on exception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65700" y="3009086"/>
            <a:ext cx="0" cy="21585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65700" y="3594963"/>
            <a:ext cx="0" cy="21584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52286" y="1775663"/>
            <a:ext cx="3397910" cy="2466847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05379" y="1800331"/>
            <a:ext cx="329172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PARAMETER WEIGHT REDISTRIBUTION ENGINE (114)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4656" y="2053183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DETECT OMITTED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CANDIDATE ATTRIBUTE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4656" y="2639059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EXCLUDE WEIGHT FROM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ACTIVE WEIGHT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4656" y="3224936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COMPUTE Ω_norm =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Σ ACTIVE WEIGHTS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4656" y="3810812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RENORMALISE: w′i = wi / Ω_norm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856" y="2423210"/>
            <a:ext cx="0" cy="21584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4856" y="3009086"/>
            <a:ext cx="0" cy="21585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856" y="3594963"/>
            <a:ext cx="0" cy="21584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757426" y="2947415"/>
            <a:ext cx="1380401" cy="555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COMPOSITE MATCH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SCORE OUTPUT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(0.0 – 100.0)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545057" y="3502456"/>
            <a:ext cx="371646" cy="43169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872930" y="4612537"/>
            <a:ext cx="5309234" cy="4316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NOTE: THE SIMILARITY SUB-SCORE OUTPUT BY MODULE (112)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(Score_similarity OR Score_TFIDF) IS SUPPLIED AS AN INPUT Si TO ENGINE (114)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3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3 – CANDIDATE SCORING AND WEIGHT REDISTRIBUTION ALGORITHMIC 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1162" y="1713991"/>
            <a:ext cx="1592770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RECEIVE JOB SPEC &amp;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CANDIDATE PROFILES (104)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1162" y="2330703"/>
            <a:ext cx="1592770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COMPUTE SEMANTIC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SIMILARITY SCORE (112)</a:t>
            </a:r>
          </a:p>
        </p:txBody>
      </p:sp>
      <p:sp>
        <p:nvSpPr>
          <p:cNvPr id="8" name="Diamond 7"/>
          <p:cNvSpPr/>
          <p:nvPr/>
        </p:nvSpPr>
        <p:spPr>
          <a:xfrm>
            <a:off x="4731162" y="2854908"/>
            <a:ext cx="1592770" cy="67838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CANDIDATE PROFILE</a:t>
            </a:r>
          </a:p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CONTAINS ACADEMIC</a:t>
            </a:r>
          </a:p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SCORE VALUE 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6745" y="3934154"/>
            <a:ext cx="1698955" cy="4933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APPLY RECRUITER WEIGHTS;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APPLY THRESHOLD PENALTY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IF g &lt; g_min (116)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3933" y="3934154"/>
            <a:ext cx="1805139" cy="4933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RENORMALISE ACTIVE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WEIGHTS w′i = wi / Ω_norm (114)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1162" y="4797551"/>
            <a:ext cx="1592770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COMPUTE COMPOSITE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MATCH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1162" y="5414263"/>
            <a:ext cx="1592770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SORT &amp; OUTPUT CANDIDATE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RANKINGS TO UI (102)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27548" y="2084019"/>
            <a:ext cx="0" cy="24668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27548" y="2700730"/>
            <a:ext cx="0" cy="15417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616223" y="3194100"/>
            <a:ext cx="1114939" cy="74005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87869" y="349012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3933" y="3194100"/>
            <a:ext cx="902570" cy="74005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9394" y="349012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6223" y="4427524"/>
            <a:ext cx="1114939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323933" y="4427524"/>
            <a:ext cx="902570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27548" y="5167578"/>
            <a:ext cx="0" cy="246685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4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4 – DUAL-PIPELINE GENERATIVE AI WORKFLOW (118).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4255" y="1713991"/>
            <a:ext cx="1486585" cy="3700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GENERATIVE AI MICROSERVICE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INTERFACE (118)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8714" y="2454046"/>
            <a:ext cx="2442248" cy="1850135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51806" y="2478714"/>
            <a:ext cx="23360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Arial"/>
              </a:defRPr>
            </a:pPr>
            <a:r>
              <a:t>PIPELINE A – PREP MATERIAL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7991" y="2700730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JOB DRIVE PUBLICATION 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7991" y="3163264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PROMPT CONSTRUCTION + LLM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INFERENCE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7991" y="3625798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OUTPUT: TOPICS, QUESTIONS,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MILESTONES, APTITUDE AREAS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19838" y="3039922"/>
            <a:ext cx="0" cy="12334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9838" y="3502456"/>
            <a:ext cx="0" cy="12334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06423" y="2454046"/>
            <a:ext cx="2442248" cy="1850135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9516" y="2478714"/>
            <a:ext cx="23360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Arial"/>
              </a:defRPr>
            </a:pPr>
            <a:r>
              <a:t>PIPELINE B – CAREER REMEDIATION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5700" y="2700730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CANDIDATE UNPLACED AFTER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RECRUITMENT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5700" y="3163264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DOMAIN SKILLS + DEPT.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PATHWAY → LLM INFERENCE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5700" y="3625798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OUTPUT: UPSKILLING &amp; CAREER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TRAJECTORY RECOMMENDATIONS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7548" y="3039922"/>
            <a:ext cx="0" cy="12334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27548" y="3502456"/>
            <a:ext cx="0" cy="12334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014133" y="2454046"/>
            <a:ext cx="2442248" cy="1850135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67226" y="2478714"/>
            <a:ext cx="23360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Arial"/>
              </a:defRPr>
            </a:pPr>
            <a:r>
              <a:t>PIPELINE C – CHAT MODERATION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3410" y="2700730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CANDIDATE CHAT MESSAGE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RECEIVED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3410" y="3163264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MODERATION PROMPT →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LLM INFERENCE 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3410" y="3625798"/>
            <a:ext cx="2123694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OUTPUT: SAFE / WARNING /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CRITICAL + REASONING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35257" y="3039922"/>
            <a:ext cx="0" cy="12334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35257" y="3502456"/>
            <a:ext cx="0" cy="12334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819838" y="2084019"/>
            <a:ext cx="2442248" cy="61671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27548" y="2084019"/>
            <a:ext cx="0" cy="61671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93009" y="2084019"/>
            <a:ext cx="2442248" cy="61671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5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5 – CHAT TOXICITY MODERATION AND WELLNESS SUPPORT LOOP (126, 128).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7268" y="1899005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STUDENT CHAT / PEER-WALL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POST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17268" y="2577388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API GATEWAY INGESTION (104)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7268" y="3255771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AI MODERATION FILTER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(PIPELINE C, 118)</a:t>
            </a:r>
          </a:p>
        </p:txBody>
      </p:sp>
      <p:sp>
        <p:nvSpPr>
          <p:cNvPr id="9" name="Diamond 8"/>
          <p:cNvSpPr/>
          <p:nvPr/>
        </p:nvSpPr>
        <p:spPr>
          <a:xfrm>
            <a:off x="1970360" y="3718305"/>
            <a:ext cx="1592770" cy="67838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MESSAGE</a:t>
            </a:r>
          </a:p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FLAGGED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7268" y="4797551"/>
            <a:ext cx="1592770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BLOCK / ESCALATE TO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MODERATOR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2408" y="4797551"/>
            <a:ext cx="1592770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PUBLISH TO ANONYMOUS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PEER SUPPORT WALL (128)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6745" y="2269032"/>
            <a:ext cx="0" cy="3083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66745" y="2947415"/>
            <a:ext cx="0" cy="3083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66745" y="3625798"/>
            <a:ext cx="0" cy="9250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48191" y="4458359"/>
            <a:ext cx="265462" cy="33919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95099" y="455395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85299" y="4458359"/>
            <a:ext cx="1168032" cy="33919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83492" y="455395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2286" y="1899005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CANDIDATE STRESS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ENTRY SUBMISSION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286" y="2577388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WELLNESS / STRESS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TRACKING MODULE (126)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2286" y="3255771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STORED STRESS LEVEL,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TRIGGER CATEGORY &amp; NOTE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01764" y="2269032"/>
            <a:ext cx="0" cy="3083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01764" y="2947415"/>
            <a:ext cx="0" cy="3083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6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6 – MULTI-TENANT DATA GOVERNANCE AND FEEDBACK/AUDIT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4898" y="1960676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CLIENT INTERFACE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LAYER (102)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10038" y="1775663"/>
            <a:ext cx="2973171" cy="1480108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3131" y="1800331"/>
            <a:ext cx="286698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APPLICATION GATEWAY SERVER (104)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69315" y="2022347"/>
            <a:ext cx="849477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AUTH.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MW (105)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4978" y="2022347"/>
            <a:ext cx="849477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TENANT ISOLATION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MW (106)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0640" y="2022347"/>
            <a:ext cx="743292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ROLE-BASED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MW (107)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85299" y="2145690"/>
            <a:ext cx="584016" cy="4317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18793" y="2188860"/>
            <a:ext cx="106185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74455" y="2188860"/>
            <a:ext cx="106185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014133" y="1960676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TENANT-SCOPED DATABASE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COLLECTIONS (108)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323933" y="2145690"/>
            <a:ext cx="690200" cy="4317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10038" y="3687469"/>
            <a:ext cx="1698955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IMMUTABLE AUDIT LOG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(APPEND-ONLY)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359516" y="2330703"/>
            <a:ext cx="3291725" cy="135676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52286" y="3687469"/>
            <a:ext cx="1698955" cy="4316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EXTERNAL COMPLIANCE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AUDITOR (124)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208993" y="3872483"/>
            <a:ext cx="743293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94817" y="379847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INDEPENDENT 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7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7 – MULTI-LAYER DATABASE AND CACHE ARCHITECTURE (108).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7268" y="1899005"/>
            <a:ext cx="3291725" cy="2960217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70360" y="1923673"/>
            <a:ext cx="31855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PERSISTENT DATABASE LAYER (108)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9637" y="2176525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TENANT / INSTITUTION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2408" y="2176525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CANDIDATE PROFILE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9637" y="2700730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JOB POSTING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2408" y="2700730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CONSENT / UNDERTAKING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9637" y="3224936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IMMUTABLE AUDIT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LOG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2408" y="3224936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COMPOUND TENANT + RECORD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ID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2007" y="3934154"/>
            <a:ext cx="2442248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QUERY SCOPING: {tenantId, recordId}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ENFORCED ON EVERY READ / WRITE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9917" y="1899005"/>
            <a:ext cx="2654617" cy="1603450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93009" y="1923673"/>
            <a:ext cx="2548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ML MICROSERVICE LOCAL CACHE (110)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286" y="2269032"/>
            <a:ext cx="2229878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FREQUENTLY-ACCESSED JOB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POSTING EMBEDDING CACHE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2286" y="2824073"/>
            <a:ext cx="2229878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REDUCES REPEATED EMBEDDING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COMPUTATION LOAD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2286" y="2700730"/>
            <a:ext cx="0" cy="123343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208993" y="2454046"/>
            <a:ext cx="743293" cy="24668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8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8 – SECURITY AND DEFENCE-IN-DEPTH ARCHITECTURE (105, 106, 107).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4898" y="1899005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CLIENT HTTPS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REQUEST (102)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10038" y="1899005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AUTHENTICATION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MIDDLEWARE (105)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5178" y="1899005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TENANT ISOLATION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MIDDLEWARE (106)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0318" y="1899005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ROLE-BASED ACCESS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MIDDLEWARE (107)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20318" y="2700730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PROTECTED ROUTE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HANDLER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5299" y="2084019"/>
            <a:ext cx="424739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90439" y="2084019"/>
            <a:ext cx="424739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95579" y="2084019"/>
            <a:ext cx="424739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0519" y="2269032"/>
            <a:ext cx="0" cy="43169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510038" y="3070758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401 UNAUTHORISED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5178" y="3070758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403 CROSS-TENANT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FORBIDDEN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20318" y="3564127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403 ROLE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FORBIDDEN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4777" y="2269032"/>
            <a:ext cx="0" cy="801726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48954" y="2595889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fail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39917" y="2269032"/>
            <a:ext cx="0" cy="801726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54094" y="2595889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fail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1964" y="2269032"/>
            <a:ext cx="0" cy="1295095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06141" y="2842574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774936" cy="6830568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0000"/>
                </a:solidFill>
                <a:latin typeface="Arial"/>
              </a:defRPr>
            </a:pPr>
            <a:r>
              <a:t>APPLICANT: OFFERDESK / CAMPUSPLACE</a:t>
            </a:r>
            <a:br/>
            <a:r>
              <a:t>TITLE: MULTI-TENANT SYSTEM &amp; DYNAMIC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0000"/>
                </a:solidFill>
                <a:latin typeface="Arial"/>
              </a:defRPr>
            </a:pPr>
            <a:r>
              <a:t>SHEET 9 OF 9</a:t>
            </a:r>
            <a:br/>
            <a:r>
              <a:t>FORM 2 - PATENT DRAWINGS (RULE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12280"/>
            <a:ext cx="8860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FIG. 9 – CRYPTOGRAPHIC E-SIGNATURE AND INSTITUTIONAL CONSENT SUB-SYSTEM (120, 122, 124).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4898" y="1775663"/>
            <a:ext cx="3291725" cy="1233423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57991" y="1800331"/>
            <a:ext cx="31855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E-SIGNATURE ENGINE (120)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64175" y="2022347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MULTI-AUTHORITY ISSUANCE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946" y="2022347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10 UNDERTAKING SUBJECT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0561" y="2515717"/>
            <a:ext cx="1380401" cy="3391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PLACEMENT OFFICER /</a:t>
            </a:r>
          </a:p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DEPT. HOD AUTHORITY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4376" y="2361539"/>
            <a:ext cx="584016" cy="15417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563131" y="2361539"/>
            <a:ext cx="584015" cy="15417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704898" y="3255771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STUDENT DIGITAL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SIGNATURE σ_student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3854" y="3255771"/>
            <a:ext cx="1380401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PARENT CO-SIGNATURE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σ_parent (IF REQUIRED)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395099" y="2885744"/>
            <a:ext cx="955662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50761" y="2885744"/>
            <a:ext cx="743293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15178" y="3564127"/>
            <a:ext cx="1805139" cy="4933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SHA-256 DIGEST GENERATOR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H_σ = SHA256(id+sig+ts) (122)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85299" y="3440785"/>
            <a:ext cx="2229879" cy="3083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94054" y="3440785"/>
            <a:ext cx="1221124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15178" y="4427524"/>
            <a:ext cx="1805139" cy="370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EXPIRATION STATE MACHINE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PENDING → EXPIRED_OVERDUE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748" y="4057497"/>
            <a:ext cx="0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545057" y="3564127"/>
            <a:ext cx="1698955" cy="4933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IMMUTABLE AUDIT LOG /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TAMPER-EVIDENT RECORD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0318" y="3810812"/>
            <a:ext cx="424739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45057" y="4427524"/>
            <a:ext cx="1698955" cy="4316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AUDITOR VERIFICATION</a:t>
            </a:r>
          </a:p>
          <a:p>
            <a:pPr algn="ctr">
              <a:defRPr sz="1000">
                <a:solidFill>
                  <a:srgbClr val="000000"/>
                </a:solidFill>
                <a:latin typeface="Arial"/>
              </a:defRPr>
            </a:pPr>
            <a:r>
              <a:t>INTERFACE (124)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94534" y="4057497"/>
            <a:ext cx="0" cy="370027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1040</Words>
  <Application>Microsoft Office PowerPoint</Application>
  <PresentationFormat>Custom</PresentationFormat>
  <Paragraphs>219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TheOrion GD</cp:lastModifiedBy>
  <cp:revision>2</cp:revision>
  <dcterms:created xsi:type="dcterms:W3CDTF">2013-01-27T09:14:16Z</dcterms:created>
  <dcterms:modified xsi:type="dcterms:W3CDTF">2026-08-13T06:23:51Z</dcterms:modified>
  <cp:category/>
</cp:coreProperties>
</file>